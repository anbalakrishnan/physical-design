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77" r:id="rId9"/>
    <p:sldId id="266" r:id="rId10"/>
    <p:sldId id="258" r:id="rId11"/>
    <p:sldId id="259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79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73152" cy="514807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82880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77724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Design of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RISC-V based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System-on-Chip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OpenLane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6032" y="3246120"/>
            <a:ext cx="3429000" cy="3200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3246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25VL742 — Physical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6032" y="365760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 March 2026   </a:t>
            </a:r>
            <a:endParaRPr 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69664" y="4114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AG-10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169664" y="950976"/>
            <a:ext cx="4754880" cy="0"/>
          </a:xfrm>
          <a:prstGeom prst="line">
            <a:avLst/>
          </a:prstGeom>
          <a:noFill/>
          <a:ln w="12700">
            <a:solidFill>
              <a:srgbClr val="C8D6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69664" y="10607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Ajith Sai Visal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69664" y="13533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CB.EN.P2VLD25002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69664" y="17739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Arvind Narayan 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69664" y="20665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CB.EN.P2VLD25004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69664" y="2606040"/>
            <a:ext cx="4754880" cy="0"/>
          </a:xfrm>
          <a:prstGeom prst="line">
            <a:avLst/>
          </a:prstGeom>
          <a:noFill/>
          <a:ln w="12700">
            <a:solidFill>
              <a:srgbClr val="C8D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69664" y="27066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Electronics and Communication Engineering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69664" y="29809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A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Amrita School of Engineering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A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Amrita Vishwa Vidyapeetham, Coimbatore – 641112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69190-F5F8-ABF1-DEA6-8ED59DCCE95B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56032" y="658368"/>
            <a:ext cx="8631936" cy="1170432"/>
          </a:xfrm>
          <a:prstGeom prst="rect">
            <a:avLst/>
          </a:prstGeom>
          <a:solidFill>
            <a:srgbClr val="E8F1FB"/>
          </a:solidFill>
          <a:ln w="19050">
            <a:solidFill>
              <a:srgbClr val="2E86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658368"/>
            <a:ext cx="73152" cy="11704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768096"/>
            <a:ext cx="833932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implement the complete physical design of a RISC-V based </a:t>
            </a:r>
            <a:r>
              <a:rPr lang="en-US" sz="13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PicoSoC</a:t>
            </a:r>
            <a:r>
              <a:rPr lang="en-US" sz="1350" dirty="0">
                <a:solidFill>
                  <a:srgbClr val="11111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using the open-source OpenLane EDA flow targeting the SkyWater SKY130 130 nm PDK, and complete the RTL to GDS II flow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6032" y="19568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6032" y="2157984"/>
            <a:ext cx="8631936" cy="0"/>
          </a:xfrm>
          <a:prstGeom prst="line">
            <a:avLst/>
          </a:prstGeom>
          <a:noFill/>
          <a:ln w="7620">
            <a:solidFill>
              <a:srgbClr val="C8D6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" y="2267712"/>
            <a:ext cx="2788920" cy="2587751"/>
          </a:xfrm>
          <a:prstGeom prst="rect">
            <a:avLst/>
          </a:prstGeom>
          <a:solidFill>
            <a:srgbClr val="F2F6FB"/>
          </a:solidFill>
          <a:ln w="1016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98448" y="2377440"/>
            <a:ext cx="694944" cy="694944"/>
          </a:xfrm>
          <a:prstGeom prst="ellipse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23774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7472" y="314553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38912" y="3474720"/>
            <a:ext cx="2423160" cy="0"/>
          </a:xfrm>
          <a:prstGeom prst="line">
            <a:avLst/>
          </a:prstGeom>
          <a:noFill/>
          <a:ln w="6350">
            <a:solidFill>
              <a:srgbClr val="C8D6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5844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PicoSoC (RV32IMC)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3886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PicoRV32 + UART + SPI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65760" y="4187952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+ Memory Decoder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65760" y="4489704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SKY130 130 nm PDK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163824" y="2267713"/>
            <a:ext cx="2788920" cy="2587750"/>
          </a:xfrm>
          <a:prstGeom prst="rect">
            <a:avLst/>
          </a:prstGeom>
          <a:solidFill>
            <a:srgbClr val="F2F6FB"/>
          </a:solidFill>
          <a:ln w="1016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06240" y="2377440"/>
            <a:ext cx="694944" cy="694944"/>
          </a:xfrm>
          <a:prstGeom prst="ellipse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06240" y="23774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255264" y="314553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346704" y="3474720"/>
            <a:ext cx="2423160" cy="0"/>
          </a:xfrm>
          <a:prstGeom prst="line">
            <a:avLst/>
          </a:prstGeom>
          <a:noFill/>
          <a:ln w="6350">
            <a:solidFill>
              <a:srgbClr val="C8D6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73552" y="35844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Simulation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273552" y="3886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→ Floorplan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273552" y="4187952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→ Routing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73552" y="4489704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+ LVS + STA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71616" y="2267712"/>
            <a:ext cx="2788920" cy="2587751"/>
          </a:xfrm>
          <a:prstGeom prst="rect">
            <a:avLst/>
          </a:prstGeom>
          <a:solidFill>
            <a:srgbClr val="F2F6FB"/>
          </a:solidFill>
          <a:ln w="1016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114032" y="2377440"/>
            <a:ext cx="694944" cy="694944"/>
          </a:xfrm>
          <a:prstGeom prst="ellipse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14032" y="23774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63056" y="314553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54496" y="3474720"/>
            <a:ext cx="2423160" cy="0"/>
          </a:xfrm>
          <a:prstGeom prst="line">
            <a:avLst/>
          </a:prstGeom>
          <a:noFill/>
          <a:ln w="6350">
            <a:solidFill>
              <a:srgbClr val="C8D6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81344" y="35844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 @ 100 MHz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181344" y="3886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DRC violations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181344" y="4187952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 clean sign-off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181344" y="4489704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Tapeout-quality GDS</a:t>
            </a:r>
            <a:endParaRPr lang="en-US" sz="105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C92357-FF21-4FF1-8A2A-E43D5CE10FDD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955280" y="4946904"/>
            <a:ext cx="10972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56032" y="676656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676656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353312" y="676656"/>
            <a:ext cx="7534656" cy="329184"/>
          </a:xfrm>
          <a:prstGeom prst="rect">
            <a:avLst/>
          </a:prstGeom>
          <a:solidFill>
            <a:srgbClr val="EEF4FB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44752" y="676656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physical design of a RISC-V based PicoSoC using open-source OpenLane targeting SkyWater SKY130 130 nm PDK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6032" y="1280160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128016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53312" y="1280160"/>
            <a:ext cx="75346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44752" y="1280160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PicoRV32 CPU (RV32IMC) + UART + SPI Flash Controller + SRAM — all on a 32-bit system bus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6032" y="1883664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1883664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353312" y="1883664"/>
            <a:ext cx="7534656" cy="329184"/>
          </a:xfrm>
          <a:prstGeom prst="rect">
            <a:avLst/>
          </a:prstGeom>
          <a:solidFill>
            <a:srgbClr val="EEF4FB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44752" y="1883664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simulation (Icarus Verilog) → Synthesis (Yosys) → Floorplan → CTS → Routing → DRC + LVS sign-off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56032" y="2487168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6032" y="2487168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353312" y="2487168"/>
            <a:ext cx="75346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44752" y="2487168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OpenLane completed in 1h 21m | 42,194 synthesized cells | Die area: 2.41 mm²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6032" y="3090672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3090672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353312" y="3090672"/>
            <a:ext cx="7534656" cy="329184"/>
          </a:xfrm>
          <a:prstGeom prst="rect">
            <a:avLst/>
          </a:prstGeom>
          <a:solidFill>
            <a:srgbClr val="EEF4FB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44752" y="3090672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 at 100 MHz — WNS = 0.0 ns, TNS = 0.0 ns | DRC: 0 violations | LVS: Clean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56032" y="3694176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3694176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353312" y="3694176"/>
            <a:ext cx="75346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44752" y="3694176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~2.99 million µm wire length | 368,965 vias | 6 metal layers (li1, met1–met5)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56032" y="4297680"/>
            <a:ext cx="1078992" cy="329184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6032" y="429768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353312" y="4297680"/>
            <a:ext cx="7534656" cy="329184"/>
          </a:xfrm>
          <a:prstGeom prst="rect">
            <a:avLst/>
          </a:prstGeom>
          <a:solidFill>
            <a:srgbClr val="EEF4FB"/>
          </a:solidFill>
          <a:ln w="5080">
            <a:solidFill>
              <a:srgbClr val="C8D6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444752" y="4297680"/>
            <a:ext cx="7370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open-source VLSI tools are capable of tapeout-quality physical design in academic settings</a:t>
            </a:r>
            <a:endParaRPr lang="en-US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0C51B9-4BCE-38B7-3A1C-17010816F911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Architecture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94944"/>
            <a:ext cx="4261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Overall Block Diagram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987552"/>
            <a:ext cx="4261104" cy="3291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-1929384" y="419709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1: PicoSoC Block Diagram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663440" y="658368"/>
            <a:ext cx="0" cy="3913632"/>
          </a:xfrm>
          <a:prstGeom prst="line">
            <a:avLst/>
          </a:prstGeom>
          <a:noFill/>
          <a:ln w="10160">
            <a:solidFill>
              <a:srgbClr val="C8D6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91456" y="6949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PicoRV32 Simplified Block Architecture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969264"/>
            <a:ext cx="4114800" cy="31455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84235" y="423648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2: PicoRV32 Simplified Block Architecture [1]</a:t>
            </a:r>
            <a:endParaRPr 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43833E-4EC2-6E83-E88B-0EF0F729319D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Block Diagrams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82880" y="658368"/>
            <a:ext cx="2862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905256"/>
            <a:ext cx="2862072" cy="18470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-2779776" y="277977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3: UART Block Diagram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36392" y="658368"/>
            <a:ext cx="2862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Controller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905256"/>
            <a:ext cx="2862072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1460" y="279806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4: SPI Block Diagram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99048" y="658368"/>
            <a:ext cx="2862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905256"/>
            <a:ext cx="2862072" cy="12618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56032" y="219456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5: Memory Block Diagram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3063240" y="658368"/>
            <a:ext cx="0" cy="2377440"/>
          </a:xfrm>
          <a:prstGeom prst="line">
            <a:avLst/>
          </a:prstGeom>
          <a:noFill/>
          <a:ln w="8890">
            <a:solidFill>
              <a:srgbClr val="C8D6E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025896" y="658368"/>
            <a:ext cx="0" cy="2377440"/>
          </a:xfrm>
          <a:prstGeom prst="line">
            <a:avLst/>
          </a:prstGeom>
          <a:noFill/>
          <a:ln w="8890">
            <a:solidFill>
              <a:srgbClr val="C8D6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82880" y="3054096"/>
            <a:ext cx="8778240" cy="0"/>
          </a:xfrm>
          <a:prstGeom prst="line">
            <a:avLst/>
          </a:prstGeom>
          <a:noFill/>
          <a:ln w="8890">
            <a:solidFill>
              <a:srgbClr val="C8D6E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56032" y="31638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MEMORY MAP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56032" y="3364992"/>
            <a:ext cx="8631936" cy="0"/>
          </a:xfrm>
          <a:prstGeom prst="line">
            <a:avLst/>
          </a:prstGeom>
          <a:noFill/>
          <a:ln w="7620">
            <a:solidFill>
              <a:srgbClr val="C8D6E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" y="3346704"/>
            <a:ext cx="8778240" cy="1536192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E4A0EF69-A189-1658-F2D3-C13A3CA24E37}"/>
              </a:ext>
            </a:extLst>
          </p:cNvPr>
          <p:cNvSpPr/>
          <p:nvPr/>
        </p:nvSpPr>
        <p:spPr>
          <a:xfrm>
            <a:off x="3214116" y="277977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5: Memory Block Diagram</a:t>
            </a:r>
            <a:endParaRPr lang="en-US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24DB2B-3AE7-F198-FDC7-E558A4B126A9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to GDS II Flow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360" y="704088"/>
            <a:ext cx="7955280" cy="40050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" y="468172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6: RTL to GDS II Physical Design Flow using OpenLane (SKY130 PDK)</a:t>
            </a:r>
            <a:endParaRPr 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C8D7F-C286-2241-682C-829E2BA55240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82880" y="658368"/>
            <a:ext cx="4279392" cy="4187952"/>
          </a:xfrm>
          <a:prstGeom prst="rect">
            <a:avLst/>
          </a:prstGeom>
          <a:solidFill>
            <a:srgbClr val="F0F6FF"/>
          </a:solidFill>
          <a:ln w="19050">
            <a:solidFill>
              <a:srgbClr val="1A56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658368"/>
            <a:ext cx="4279392" cy="34747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658368"/>
            <a:ext cx="4279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" y="111556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" y="1389888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 — PicoRV32, UART, SPI, SRAM, Memory Decoder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22576" y="1883664"/>
            <a:ext cx="0" cy="182880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29184" y="210312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Simulation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9184" y="2377440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— functional verify, golden waveform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322576" y="2871216"/>
            <a:ext cx="0" cy="182880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329184" y="309067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184" y="3364992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+ ABC → sky130_fd_sc_hd  |  AREA 0 strategy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22576" y="3858768"/>
            <a:ext cx="0" cy="182880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329184" y="4078224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Pre-Layout STA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9184" y="4352544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 — setup/hold timing verified at 100 MHz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658368"/>
            <a:ext cx="4279392" cy="4187952"/>
          </a:xfrm>
          <a:prstGeom prst="rect">
            <a:avLst/>
          </a:prstGeom>
          <a:solidFill>
            <a:srgbClr val="F0F6FF"/>
          </a:solidFill>
          <a:ln w="19050">
            <a:solidFill>
              <a:srgbClr val="1A56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81728" y="658368"/>
            <a:ext cx="4279392" cy="3474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1728" y="658368"/>
            <a:ext cx="4279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Flow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28032" y="111556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Floorplanning &amp; PDN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28032" y="1389888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— macro placement, power straps, die 1547×1558 µm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21424" y="1883664"/>
            <a:ext cx="0" cy="182880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4828032" y="210312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28032" y="2377440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(global) + OpenDP (detailed)  |  antenna diodes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21424" y="2871216"/>
            <a:ext cx="0" cy="182880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4828032" y="309067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28032" y="3364992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TritonCTS — balanced clock tree  |  skew: 0.29 ns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821424" y="3858768"/>
            <a:ext cx="0" cy="182880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4828032" y="4078224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Sign-off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28032" y="4352544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FastRoute + TritonRoute  |  Magic DRC  |  Netgen LVS  |  OpenSTA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88F559-721D-1D51-DD11-F9D7FB840757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46324-36D1-7173-4481-1ECA21A055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749"/>
          <a:stretch>
            <a:fillRect/>
          </a:stretch>
        </p:blipFill>
        <p:spPr>
          <a:xfrm>
            <a:off x="0" y="0"/>
            <a:ext cx="92069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4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Floorplanning &amp; Placement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Floorplanning &amp; PDN — OpenROAD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969264"/>
            <a:ext cx="3383280" cy="3401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98303" y="449146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8: </a:t>
            </a:r>
            <a:r>
              <a:rPr lang="en-US" sz="800" i="1" dirty="0"/>
              <a:t>Complete Detailed routing – Open Road Visualization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626864" y="658368"/>
            <a:ext cx="0" cy="4059936"/>
          </a:xfrm>
          <a:prstGeom prst="line">
            <a:avLst/>
          </a:prstGeom>
          <a:noFill/>
          <a:ln w="10160">
            <a:solidFill>
              <a:srgbClr val="C8D6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658368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Placement &amp; Routing — RePlAce + OpenDP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969264"/>
            <a:ext cx="3383280" cy="34015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-1920240" y="447774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7: Standard cell placement —  (KLayout)</a:t>
            </a:r>
            <a:endParaRPr 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CDDF3-583D-B4B6-04F8-92A071BDE138}"/>
              </a:ext>
            </a:extLst>
          </p:cNvPr>
          <p:cNvSpPr txBox="1"/>
          <p:nvPr/>
        </p:nvSpPr>
        <p:spPr>
          <a:xfrm>
            <a:off x="8643671" y="491947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9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Comparison — Macro Die Areas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76656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Macro-level die areas and placement coordinates — Base Paper [1] vs this implementation.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69264"/>
            <a:ext cx="8631936" cy="1536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254203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Macro-level Die Area &amp; Placement Coordinates — Base Paper [1] vs This Work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56032" y="27980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CHIP AREA METRICS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56032" y="2999232"/>
            <a:ext cx="8631936" cy="0"/>
          </a:xfrm>
          <a:prstGeom prst="line">
            <a:avLst/>
          </a:prstGeom>
          <a:noFill/>
          <a:ln w="7620">
            <a:solidFill>
              <a:srgbClr val="C8D6E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3054096"/>
            <a:ext cx="8631936" cy="1536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" y="462686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Overall Chip Area Metrics — Base Paper [1] vs This Work</a:t>
            </a:r>
            <a:endParaRPr 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65ECE-5A86-7113-C6C2-AFA5BD2C00BF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 — Performance Metrics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76656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 compared. Maximum operating frequency is the primary improvement over the base paper [1].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69264"/>
            <a:ext cx="8631936" cy="22768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28269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Performance Metrics Comparison — Base Paper [1] vs This Work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6032" y="3511296"/>
            <a:ext cx="8631936" cy="914400"/>
          </a:xfrm>
          <a:prstGeom prst="rect">
            <a:avLst/>
          </a:prstGeom>
          <a:solidFill>
            <a:srgbClr val="E8F1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" y="3511296"/>
            <a:ext cx="73152" cy="9144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" y="356616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0624" y="38221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implementation achieves 100 MHz — 5× higher than the base paper's 19 MHz — by applying a 10 ns clock period constraint (10× tighter). All physical verification metrics (die area, DRC, LVS) are identical or better.</a:t>
            </a:r>
            <a:endParaRPr lang="en-US" sz="9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A29CB5-4A1E-3425-D4E7-A1AC2A17A0E1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</a:t>
            </a:r>
            <a:r>
              <a:rPr lang="en-IN" sz="10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Clock Tree Synthesis — Timing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Post-CTS timing results. Base paper used 100 ns constraint; this work uses 10 ns (100 MHz).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50976"/>
            <a:ext cx="8631936" cy="1783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277063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 CTS Timing Results — This Work vs Base Paper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6032" y="3017520"/>
            <a:ext cx="8631936" cy="914400"/>
          </a:xfrm>
          <a:prstGeom prst="rect">
            <a:avLst/>
          </a:prstGeom>
          <a:solidFill>
            <a:srgbClr val="E8F1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" y="3017520"/>
            <a:ext cx="73152" cy="9144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" y="307238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0624" y="33284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implementation targets 10 ns (100 MHz) — 10× tighter than the base paper's 100 ns constraint. TritonCTS achieved a clock skew of 0.29 ns, demonstrating excellent clock distribution for a 42,194-cell multi-macro SoC design.</a:t>
            </a:r>
            <a:endParaRPr lang="en-US" sz="9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33D56-C186-2142-EEDE-38D468936013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Global Routing — Layer Utilization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resource utilization per metal layer after FastRoute. Base paper does not report per-layer utilization.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50976"/>
            <a:ext cx="8631936" cy="1783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277063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5: Metal Layer Routing Utilization — FastRoute (This Work)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6032" y="3017520"/>
            <a:ext cx="8631936" cy="914400"/>
          </a:xfrm>
          <a:prstGeom prst="rect">
            <a:avLst/>
          </a:prstGeom>
          <a:solidFill>
            <a:srgbClr val="E8F1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" y="3017520"/>
            <a:ext cx="73152" cy="9144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" y="307238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0624" y="33284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met1 (33.24%) and met2 (34.32%) carry the highest routing load — consistent with SKY130 standard cell routing. li1 (0%) is reserved for standard cell internal connections. Total: 2,986,170 µm wire length and 368,965 vias.</a:t>
            </a:r>
            <a:endParaRPr lang="en-US" sz="9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A151F6-2421-57A2-0CF3-93B0FE9644DA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DRC + LVS Physical Sign-off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verification results compared with the base paper [1].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50976"/>
            <a:ext cx="8631936" cy="2029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01752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6: Physical Sign-off Results — This Work vs Base Paper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6032" y="3255264"/>
            <a:ext cx="8631936" cy="914400"/>
          </a:xfrm>
          <a:prstGeom prst="rect">
            <a:avLst/>
          </a:prstGeom>
          <a:solidFill>
            <a:srgbClr val="E8F1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" y="3255264"/>
            <a:ext cx="73152" cy="9144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" y="33101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0624" y="3566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this work and the base paper achieved DRC-clean and LVS-clean results. Antenna violations (432 pin, 326 net) were fully resolved via antenna diode insertion — a standard physical design practice for designs of this scale.</a:t>
            </a:r>
            <a:endParaRPr lang="en-US" sz="9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F80BB0-7ED9-73B8-D7F6-C913E482913C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Post-Layout STA — Timing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timing sign-off on the fully routed netlist (OpenSTA). 100 MHz is 5× better than base paper.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50976"/>
            <a:ext cx="8631936" cy="2029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01752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7: Post-Layout STA Results — This Work vs Base Paper [1]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6032" y="3255264"/>
            <a:ext cx="8631936" cy="914400"/>
          </a:xfrm>
          <a:prstGeom prst="rect">
            <a:avLst/>
          </a:prstGeom>
          <a:solidFill>
            <a:srgbClr val="E8F1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" y="3255264"/>
            <a:ext cx="73152" cy="9144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" y="33101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0624" y="3566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operating frequency of 100 MHz is 5× higher than the base paper's 19 MHz. Both designs achieve WNS = TNS = 0.0 ns, confirming full timing closure under their respective constraints.</a:t>
            </a:r>
            <a:endParaRPr lang="en-US" sz="9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6985E7-6C79-34DF-3B1E-F4743A6557A1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Post-Layout STA — Power &amp; Summary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and design summary metrics from the final routed implementation.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950976"/>
            <a:ext cx="8631936" cy="2779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76732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8: Power &amp; Summary Metrics — This Work vs Base Paper [1]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E6B063-4527-050F-06BE-424AC27DCF9E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B1AA8-DC84-1474-C4F3-4030123A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370" y="0"/>
            <a:ext cx="92463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60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GDS II Output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65836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Chip Layout — KLayout 0.28.16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-1873582" y="412596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9: Complete PicoSoC GDS II layout (Metal Layers hidden) — KLayout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645152" y="658368"/>
            <a:ext cx="0" cy="4096512"/>
          </a:xfrm>
          <a:prstGeom prst="line">
            <a:avLst/>
          </a:prstGeom>
          <a:noFill/>
          <a:ln w="10160">
            <a:solidFill>
              <a:srgbClr val="C8D6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73168" y="6583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Zoomed-in Layout View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3168" y="932688"/>
            <a:ext cx="4114800" cy="22494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14600" y="319125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10: Zoomed view — standard cells, routing &amp; vias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773168" y="3474720"/>
            <a:ext cx="237744" cy="25603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73168" y="347472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65776" y="34747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using Magic after DRC, LVS &amp; antenna sign-off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73168" y="3840480"/>
            <a:ext cx="237744" cy="25603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73168" y="38404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65776" y="384048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macros within 1546.9 × 1557.6 µm die boundary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73168" y="4206240"/>
            <a:ext cx="237744" cy="25603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73168" y="420624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65776" y="420624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picosoc.gds  ·  picosoc.lef  ·  picosoc.spef</a:t>
            </a:r>
            <a:endParaRPr 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383443-52A5-254F-0D5E-D131E28B274B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18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6D3F89-4C17-F1AA-2B77-90DC49A0E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43" y="877746"/>
            <a:ext cx="3564286" cy="30451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82880" y="658368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658368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713232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Completion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0896" y="987552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OpenLane RTL-to-GDS completed in 1h 21m — confirming open-source EDA viability for complete SoC physical design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82880" y="1700784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1700784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" y="1755648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0896" y="2029968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achieved (WNS = TNS = 0.0 ns) — 5× better than base paper's 19 MHz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2743200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2743200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0896" y="2798064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Verification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10896" y="3072384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DRC: 0 violations | Netgen LVS: clean | 53,216 nets matched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82880" y="3785616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82880" y="3785616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" y="3840480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Quality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10896" y="4114800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TritonCTS achieved 0.29 ns clock skew — excellent for a 42,194-cell multi-macro SoC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45152" y="658368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45152" y="658368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73168" y="713232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73168" y="987552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met1 (33.24%) and met2 (34.32%) carry highest utilization — consistent with SKY130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45152" y="1700784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45152" y="1700784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73168" y="1755648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73168" y="2029968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 pin and 326 net violations resolved via diode insertion — standard for this scale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645152" y="2743200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645152" y="2743200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73168" y="2798064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73168" y="3072384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mW at typical corner — majority in combinational logic, expected for processor-centric design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645152" y="3785616"/>
            <a:ext cx="4315968" cy="987552"/>
          </a:xfrm>
          <a:prstGeom prst="rect">
            <a:avLst/>
          </a:prstGeom>
          <a:solidFill>
            <a:srgbClr val="F2F6FB"/>
          </a:solidFill>
          <a:ln w="635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45152" y="3785616"/>
            <a:ext cx="64008" cy="9875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73168" y="3840480"/>
            <a:ext cx="4151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&amp; Placement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773168" y="4114800"/>
            <a:ext cx="41513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20.43% density vs 20% target — correct placer operation, sufficient routing headroom</a:t>
            </a:r>
            <a:endParaRPr lang="en-US" sz="95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AC39FA-2507-FD1A-7A68-D469EDBBB995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64008"/>
            <a:ext cx="7781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19288" y="6400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91440"/>
            <a:ext cx="96012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82880" y="4946904"/>
            <a:ext cx="7680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25VL742 Physical Design  |  Group AG-10  |  Amrita Vishwa Vidyapeetham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56032" y="658368"/>
            <a:ext cx="8631936" cy="1920240"/>
          </a:xfrm>
          <a:prstGeom prst="rect">
            <a:avLst/>
          </a:prstGeom>
          <a:solidFill>
            <a:srgbClr val="F2F6FB"/>
          </a:solidFill>
          <a:ln w="10160">
            <a:solidFill>
              <a:srgbClr val="C8D6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658368"/>
            <a:ext cx="73152" cy="1920240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768096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768096"/>
            <a:ext cx="7936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Fauzan, R. F. Yanuarsyah, M. H. Hibatullah, R. Arisaputra, I. Syafalni, N. Sutisna, T. Adiono, and M. Ikeda,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1060704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"Physical Design of RISC-V based System-on-Chip using OpenLane,"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1335024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IEEE Asia Pacific Conference on Circuits and Systems (APCCAS), pp. 529–533, Nov. 2024.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1609344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10.1109/APCCAS62602.2024.10808656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A1185-FA9E-9E66-6D69-E67C6BAF0E11}"/>
              </a:ext>
            </a:extLst>
          </p:cNvPr>
          <p:cNvSpPr txBox="1"/>
          <p:nvPr/>
        </p:nvSpPr>
        <p:spPr>
          <a:xfrm>
            <a:off x="8643671" y="491947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2</a:t>
            </a:r>
            <a:r>
              <a:rPr lang="en-IN" sz="1000" dirty="0">
                <a:solidFill>
                  <a:schemeClr val="bg1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0698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9456"/>
            <a:ext cx="960120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of RISC-V based System-on-Chip using OpenLane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0" y="3145536"/>
            <a:ext cx="4572000" cy="0"/>
          </a:xfrm>
          <a:prstGeom prst="line">
            <a:avLst/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2735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AG-10  |  25VL742 Physical Design  |  Amrita Vishwa Vidyapeetham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F96573-DC6E-DFDB-7C08-711B5684777F}"/>
              </a:ext>
            </a:extLst>
          </p:cNvPr>
          <p:cNvSpPr txBox="1"/>
          <p:nvPr/>
        </p:nvSpPr>
        <p:spPr>
          <a:xfrm>
            <a:off x="8643671" y="482025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2</a:t>
            </a:r>
            <a:r>
              <a:rPr lang="en-IN" sz="10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1544</Words>
  <Application>Microsoft Office PowerPoint</Application>
  <PresentationFormat>On-screen Show (16:9)</PresentationFormat>
  <Paragraphs>215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Design of RISC-V based SoC using OpenLane</dc:title>
  <dc:subject>PptxGenJS Presentation</dc:subject>
  <dc:creator>PptxGenJS</dc:creator>
  <cp:lastModifiedBy>Arvind Narayan</cp:lastModifiedBy>
  <cp:revision>47</cp:revision>
  <dcterms:created xsi:type="dcterms:W3CDTF">2026-03-21T17:12:34Z</dcterms:created>
  <dcterms:modified xsi:type="dcterms:W3CDTF">2026-03-24T06:17:20Z</dcterms:modified>
</cp:coreProperties>
</file>